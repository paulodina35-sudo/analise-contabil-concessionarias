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24317325" cy="3241357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09">
          <p15:clr>
            <a:srgbClr val="747775"/>
          </p15:clr>
        </p15:guide>
        <p15:guide id="2" pos="765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6" d="100"/>
          <a:sy n="46" d="100"/>
        </p:scale>
        <p:origin x="-114" y="36"/>
      </p:cViewPr>
      <p:guideLst>
        <p:guide orient="horz" pos="10209"/>
        <p:guide pos="76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069" y="685800"/>
            <a:ext cx="2572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28949" y="4692201"/>
            <a:ext cx="22659600" cy="12935100"/>
          </a:xfrm>
          <a:prstGeom prst="rect">
            <a:avLst/>
          </a:prstGeom>
        </p:spPr>
        <p:txBody>
          <a:bodyPr spcFirstLastPara="1" wrap="square" lIns="354150" tIns="354150" rIns="354150" bIns="354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1pPr>
            <a:lvl2pPr lvl="1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2pPr>
            <a:lvl3pPr lvl="2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3pPr>
            <a:lvl4pPr lvl="3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4pPr>
            <a:lvl5pPr lvl="4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5pPr>
            <a:lvl6pPr lvl="5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6pPr>
            <a:lvl7pPr lvl="6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7pPr>
            <a:lvl8pPr lvl="7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8pPr>
            <a:lvl9pPr lvl="8" algn="ctr">
              <a:spcBef>
                <a:spcPts val="0"/>
              </a:spcBef>
              <a:spcAft>
                <a:spcPts val="0"/>
              </a:spcAft>
              <a:buSzPts val="20142"/>
              <a:buNone/>
              <a:defRPr sz="2014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828927" y="17860236"/>
            <a:ext cx="22659600" cy="49947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28927" y="13554338"/>
            <a:ext cx="22659600" cy="53049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1pPr>
            <a:lvl2pPr lvl="1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2pPr>
            <a:lvl3pPr lvl="2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3pPr>
            <a:lvl4pPr lvl="3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4pPr>
            <a:lvl5pPr lvl="4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5pPr>
            <a:lvl6pPr lvl="5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6pPr>
            <a:lvl7pPr lvl="6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7pPr>
            <a:lvl8pPr lvl="7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8pPr>
            <a:lvl9pPr lvl="8" algn="ctr">
              <a:spcBef>
                <a:spcPts val="0"/>
              </a:spcBef>
              <a:spcAft>
                <a:spcPts val="0"/>
              </a:spcAft>
              <a:buSzPts val="13945"/>
              <a:buNone/>
              <a:defRPr sz="13944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828927" y="2804482"/>
            <a:ext cx="22659600" cy="36090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1pPr>
            <a:lvl2pPr lvl="1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2pPr>
            <a:lvl3pPr lvl="2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3pPr>
            <a:lvl4pPr lvl="3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4pPr>
            <a:lvl5pPr lvl="4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5pPr>
            <a:lvl6pPr lvl="5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6pPr>
            <a:lvl7pPr lvl="6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7pPr>
            <a:lvl8pPr lvl="7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8pPr>
            <a:lvl9pPr lvl="8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828927" y="7262727"/>
            <a:ext cx="22659600" cy="215295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671344">
              <a:spcBef>
                <a:spcPts val="0"/>
              </a:spcBef>
              <a:spcAft>
                <a:spcPts val="0"/>
              </a:spcAft>
              <a:buSzPts val="6972"/>
              <a:buChar char="●"/>
              <a:defRPr sz="6972"/>
            </a:lvl1pPr>
            <a:lvl2pPr marL="914400" lvl="1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2pPr>
            <a:lvl3pPr marL="1371600" lvl="2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3pPr>
            <a:lvl4pPr marL="1828800" lvl="3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4pPr>
            <a:lvl5pPr marL="2286000" lvl="4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5pPr>
            <a:lvl6pPr marL="2743200" lvl="5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6pPr>
            <a:lvl7pPr marL="3200400" lvl="6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7pPr>
            <a:lvl8pPr marL="3657600" lvl="7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8pPr>
            <a:lvl9pPr marL="4114800" lvl="8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828927" y="2804482"/>
            <a:ext cx="22659600" cy="36090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1pPr>
            <a:lvl2pPr lvl="1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2pPr>
            <a:lvl3pPr lvl="2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3pPr>
            <a:lvl4pPr lvl="3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4pPr>
            <a:lvl5pPr lvl="4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5pPr>
            <a:lvl6pPr lvl="5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6pPr>
            <a:lvl7pPr lvl="6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7pPr>
            <a:lvl8pPr lvl="7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8pPr>
            <a:lvl9pPr lvl="8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828927" y="7262727"/>
            <a:ext cx="10637100" cy="215295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1pPr>
            <a:lvl2pPr marL="914400" lvl="1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2pPr>
            <a:lvl3pPr marL="1371600" lvl="2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3pPr>
            <a:lvl4pPr marL="1828800" lvl="3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4pPr>
            <a:lvl5pPr marL="2286000" lvl="4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5pPr>
            <a:lvl6pPr marL="2743200" lvl="5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6pPr>
            <a:lvl7pPr marL="3200400" lvl="6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7pPr>
            <a:lvl8pPr marL="3657600" lvl="7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8pPr>
            <a:lvl9pPr marL="4114800" lvl="8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2851164" y="7262727"/>
            <a:ext cx="10637100" cy="215295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1pPr>
            <a:lvl2pPr marL="914400" lvl="1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2pPr>
            <a:lvl3pPr marL="1371600" lvl="2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3pPr>
            <a:lvl4pPr marL="1828800" lvl="3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4pPr>
            <a:lvl5pPr marL="2286000" lvl="4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5pPr>
            <a:lvl6pPr marL="2743200" lvl="5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6pPr>
            <a:lvl7pPr marL="3200400" lvl="6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7pPr>
            <a:lvl8pPr marL="3657600" lvl="7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8pPr>
            <a:lvl9pPr marL="4114800" lvl="8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28927" y="2804482"/>
            <a:ext cx="22659600" cy="36090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1pPr>
            <a:lvl2pPr lvl="1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2pPr>
            <a:lvl3pPr lvl="2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3pPr>
            <a:lvl4pPr lvl="3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4pPr>
            <a:lvl5pPr lvl="4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5pPr>
            <a:lvl6pPr lvl="5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6pPr>
            <a:lvl7pPr lvl="6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7pPr>
            <a:lvl8pPr lvl="7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8pPr>
            <a:lvl9pPr lvl="8">
              <a:spcBef>
                <a:spcPts val="0"/>
              </a:spcBef>
              <a:spcAft>
                <a:spcPts val="0"/>
              </a:spcAft>
              <a:buSzPts val="10846"/>
              <a:buNone/>
              <a:defRPr sz="10845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828927" y="3501309"/>
            <a:ext cx="7467600" cy="4762200"/>
          </a:xfrm>
          <a:prstGeom prst="rect">
            <a:avLst/>
          </a:prstGeom>
        </p:spPr>
        <p:txBody>
          <a:bodyPr spcFirstLastPara="1" wrap="square" lIns="354150" tIns="354150" rIns="354150" bIns="3541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1pPr>
            <a:lvl2pPr lvl="1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2pPr>
            <a:lvl3pPr lvl="2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3pPr>
            <a:lvl4pPr lvl="3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4pPr>
            <a:lvl5pPr lvl="4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5pPr>
            <a:lvl6pPr lvl="5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6pPr>
            <a:lvl7pPr lvl="6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7pPr>
            <a:lvl8pPr lvl="7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8pPr>
            <a:lvl9pPr lvl="8">
              <a:spcBef>
                <a:spcPts val="0"/>
              </a:spcBef>
              <a:spcAft>
                <a:spcPts val="0"/>
              </a:spcAft>
              <a:buSzPts val="9296"/>
              <a:buNone/>
              <a:defRPr sz="9296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828927" y="8757053"/>
            <a:ext cx="7467600" cy="200361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1pPr>
            <a:lvl2pPr marL="914400" lvl="1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2pPr>
            <a:lvl3pPr marL="1371600" lvl="2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3pPr>
            <a:lvl4pPr marL="1828800" lvl="3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4pPr>
            <a:lvl5pPr marL="2286000" lvl="4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5pPr>
            <a:lvl6pPr marL="2743200" lvl="5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6pPr>
            <a:lvl7pPr marL="3200400" lvl="6" indent="-523763">
              <a:spcBef>
                <a:spcPts val="0"/>
              </a:spcBef>
              <a:spcAft>
                <a:spcPts val="0"/>
              </a:spcAft>
              <a:buSzPts val="4648"/>
              <a:buChar char="●"/>
              <a:defRPr sz="4648"/>
            </a:lvl7pPr>
            <a:lvl8pPr marL="3657600" lvl="7" indent="-523763">
              <a:spcBef>
                <a:spcPts val="0"/>
              </a:spcBef>
              <a:spcAft>
                <a:spcPts val="0"/>
              </a:spcAft>
              <a:buSzPts val="4648"/>
              <a:buChar char="○"/>
              <a:defRPr sz="4648"/>
            </a:lvl8pPr>
            <a:lvl9pPr marL="4114800" lvl="8" indent="-523763">
              <a:spcBef>
                <a:spcPts val="0"/>
              </a:spcBef>
              <a:spcAft>
                <a:spcPts val="0"/>
              </a:spcAft>
              <a:buSzPts val="4648"/>
              <a:buChar char="■"/>
              <a:defRPr sz="4648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303759" y="2836779"/>
            <a:ext cx="16934400" cy="257796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1pPr>
            <a:lvl2pPr lvl="1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2pPr>
            <a:lvl3pPr lvl="2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3pPr>
            <a:lvl4pPr lvl="3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4pPr>
            <a:lvl5pPr lvl="4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5pPr>
            <a:lvl6pPr lvl="5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6pPr>
            <a:lvl7pPr lvl="6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7pPr>
            <a:lvl8pPr lvl="7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8pPr>
            <a:lvl9pPr lvl="8">
              <a:spcBef>
                <a:spcPts val="0"/>
              </a:spcBef>
              <a:spcAft>
                <a:spcPts val="0"/>
              </a:spcAft>
              <a:buSzPts val="18593"/>
              <a:buNone/>
              <a:defRPr sz="18592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2158663" y="-788"/>
            <a:ext cx="12158700" cy="3241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54150" tIns="354150" rIns="354150" bIns="354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706064" y="7771286"/>
            <a:ext cx="10757700" cy="9341100"/>
          </a:xfrm>
          <a:prstGeom prst="rect">
            <a:avLst/>
          </a:prstGeom>
        </p:spPr>
        <p:txBody>
          <a:bodyPr spcFirstLastPara="1" wrap="square" lIns="354150" tIns="354150" rIns="354150" bIns="354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1pPr>
            <a:lvl2pPr lvl="1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2pPr>
            <a:lvl3pPr lvl="2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3pPr>
            <a:lvl4pPr lvl="3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4pPr>
            <a:lvl5pPr lvl="4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5pPr>
            <a:lvl6pPr lvl="5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6pPr>
            <a:lvl7pPr lvl="6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7pPr>
            <a:lvl8pPr lvl="7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8pPr>
            <a:lvl9pPr lvl="8" algn="ctr">
              <a:spcBef>
                <a:spcPts val="0"/>
              </a:spcBef>
              <a:spcAft>
                <a:spcPts val="0"/>
              </a:spcAft>
              <a:buSzPts val="16269"/>
              <a:buNone/>
              <a:defRPr sz="16268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706064" y="17664563"/>
            <a:ext cx="10757700" cy="77835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34"/>
              <a:buNone/>
              <a:defRPr sz="8134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3135983" y="4563013"/>
            <a:ext cx="10203900" cy="232860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marL="457200" lvl="0" indent="-671344">
              <a:spcBef>
                <a:spcPts val="0"/>
              </a:spcBef>
              <a:spcAft>
                <a:spcPts val="0"/>
              </a:spcAft>
              <a:buSzPts val="6972"/>
              <a:buChar char="●"/>
              <a:defRPr sz="6972"/>
            </a:lvl1pPr>
            <a:lvl2pPr marL="914400" lvl="1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2pPr>
            <a:lvl3pPr marL="1371600" lvl="2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3pPr>
            <a:lvl4pPr marL="1828800" lvl="3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4pPr>
            <a:lvl5pPr marL="2286000" lvl="4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5pPr>
            <a:lvl6pPr marL="2743200" lvl="5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6pPr>
            <a:lvl7pPr marL="3200400" lvl="6" indent="-572957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7pPr>
            <a:lvl8pPr marL="3657600" lvl="7" indent="-572957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8pPr>
            <a:lvl9pPr marL="4114800" lvl="8" indent="-572957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828927" y="26660457"/>
            <a:ext cx="15953100" cy="38133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72"/>
              <a:buNone/>
              <a:defRPr sz="6972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828927" y="6970636"/>
            <a:ext cx="22659600" cy="12373800"/>
          </a:xfrm>
          <a:prstGeom prst="rect">
            <a:avLst/>
          </a:prstGeom>
        </p:spPr>
        <p:txBody>
          <a:bodyPr spcFirstLastPara="1" wrap="square" lIns="354150" tIns="354150" rIns="354150" bIns="3541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1pPr>
            <a:lvl2pPr lvl="1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2pPr>
            <a:lvl3pPr lvl="2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3pPr>
            <a:lvl4pPr lvl="3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4pPr>
            <a:lvl5pPr lvl="4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5pPr>
            <a:lvl6pPr lvl="5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6pPr>
            <a:lvl7pPr lvl="6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7pPr>
            <a:lvl8pPr lvl="7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8pPr>
            <a:lvl9pPr lvl="8" algn="ctr">
              <a:spcBef>
                <a:spcPts val="0"/>
              </a:spcBef>
              <a:spcAft>
                <a:spcPts val="0"/>
              </a:spcAft>
              <a:buSzPts val="46482"/>
              <a:buNone/>
              <a:defRPr sz="4648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828927" y="19864855"/>
            <a:ext cx="22659600" cy="8197500"/>
          </a:xfrm>
          <a:prstGeom prst="rect">
            <a:avLst/>
          </a:prstGeom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671344" algn="ctr">
              <a:spcBef>
                <a:spcPts val="0"/>
              </a:spcBef>
              <a:spcAft>
                <a:spcPts val="0"/>
              </a:spcAft>
              <a:buSzPts val="6972"/>
              <a:buChar char="●"/>
              <a:defRPr sz="6972"/>
            </a:lvl1pPr>
            <a:lvl2pPr marL="914400" lvl="1" indent="-572957" algn="ctr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2pPr>
            <a:lvl3pPr marL="1371600" lvl="2" indent="-572957" algn="ctr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3pPr>
            <a:lvl4pPr marL="1828800" lvl="3" indent="-572957" algn="ctr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4pPr>
            <a:lvl5pPr marL="2286000" lvl="4" indent="-572957" algn="ctr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5pPr>
            <a:lvl6pPr marL="2743200" lvl="5" indent="-572957" algn="ctr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6pPr>
            <a:lvl7pPr marL="3200400" lvl="6" indent="-572957" algn="ctr">
              <a:spcBef>
                <a:spcPts val="0"/>
              </a:spcBef>
              <a:spcAft>
                <a:spcPts val="0"/>
              </a:spcAft>
              <a:buSzPts val="5423"/>
              <a:buChar char="●"/>
              <a:defRPr sz="5422"/>
            </a:lvl7pPr>
            <a:lvl8pPr marL="3657600" lvl="7" indent="-572957" algn="ctr">
              <a:spcBef>
                <a:spcPts val="0"/>
              </a:spcBef>
              <a:spcAft>
                <a:spcPts val="0"/>
              </a:spcAft>
              <a:buSzPts val="5423"/>
              <a:buChar char="○"/>
              <a:defRPr sz="5422"/>
            </a:lvl8pPr>
            <a:lvl9pPr marL="4114800" lvl="8" indent="-572957" algn="ctr">
              <a:spcBef>
                <a:spcPts val="0"/>
              </a:spcBef>
              <a:spcAft>
                <a:spcPts val="0"/>
              </a:spcAft>
              <a:buSzPts val="5423"/>
              <a:buChar char="■"/>
              <a:defRPr sz="5422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>
              <a:buNone/>
              <a:defRPr sz="3873"/>
            </a:lvl1pPr>
            <a:lvl2pPr lvl="1">
              <a:buNone/>
              <a:defRPr sz="3873"/>
            </a:lvl2pPr>
            <a:lvl3pPr lvl="2">
              <a:buNone/>
              <a:defRPr sz="3873"/>
            </a:lvl3pPr>
            <a:lvl4pPr lvl="3">
              <a:buNone/>
              <a:defRPr sz="3873"/>
            </a:lvl4pPr>
            <a:lvl5pPr lvl="4">
              <a:buNone/>
              <a:defRPr sz="3873"/>
            </a:lvl5pPr>
            <a:lvl6pPr lvl="5">
              <a:buNone/>
              <a:defRPr sz="3873"/>
            </a:lvl6pPr>
            <a:lvl7pPr lvl="6">
              <a:buNone/>
              <a:defRPr sz="3873"/>
            </a:lvl7pPr>
            <a:lvl8pPr lvl="7">
              <a:buNone/>
              <a:defRPr sz="3873"/>
            </a:lvl8pPr>
            <a:lvl9pPr lvl="8">
              <a:buNone/>
              <a:defRPr sz="3873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8927" y="2804482"/>
            <a:ext cx="22659600" cy="3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4150" tIns="354150" rIns="354150" bIns="3541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46"/>
              <a:buNone/>
              <a:defRPr sz="10845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28927" y="7262727"/>
            <a:ext cx="22659600" cy="21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4150" tIns="354150" rIns="354150" bIns="354150" anchor="t" anchorCtr="0">
            <a:normAutofit/>
          </a:bodyPr>
          <a:lstStyle>
            <a:lvl1pPr marL="457200" lvl="0" indent="-67134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2"/>
              <a:buChar char="●"/>
              <a:defRPr sz="6972">
                <a:solidFill>
                  <a:schemeClr val="dk2"/>
                </a:solidFill>
              </a:defRPr>
            </a:lvl1pPr>
            <a:lvl2pPr marL="914400" lvl="1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○"/>
              <a:defRPr sz="5422">
                <a:solidFill>
                  <a:schemeClr val="dk2"/>
                </a:solidFill>
              </a:defRPr>
            </a:lvl2pPr>
            <a:lvl3pPr marL="1371600" lvl="2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■"/>
              <a:defRPr sz="5422">
                <a:solidFill>
                  <a:schemeClr val="dk2"/>
                </a:solidFill>
              </a:defRPr>
            </a:lvl3pPr>
            <a:lvl4pPr marL="1828800" lvl="3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●"/>
              <a:defRPr sz="5422">
                <a:solidFill>
                  <a:schemeClr val="dk2"/>
                </a:solidFill>
              </a:defRPr>
            </a:lvl4pPr>
            <a:lvl5pPr marL="2286000" lvl="4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○"/>
              <a:defRPr sz="5422">
                <a:solidFill>
                  <a:schemeClr val="dk2"/>
                </a:solidFill>
              </a:defRPr>
            </a:lvl5pPr>
            <a:lvl6pPr marL="2743200" lvl="5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■"/>
              <a:defRPr sz="5422">
                <a:solidFill>
                  <a:schemeClr val="dk2"/>
                </a:solidFill>
              </a:defRPr>
            </a:lvl6pPr>
            <a:lvl7pPr marL="3200400" lvl="6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●"/>
              <a:defRPr sz="5422">
                <a:solidFill>
                  <a:schemeClr val="dk2"/>
                </a:solidFill>
              </a:defRPr>
            </a:lvl7pPr>
            <a:lvl8pPr marL="3657600" lvl="7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○"/>
              <a:defRPr sz="5422">
                <a:solidFill>
                  <a:schemeClr val="dk2"/>
                </a:solidFill>
              </a:defRPr>
            </a:lvl8pPr>
            <a:lvl9pPr marL="4114800" lvl="8" indent="-57295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23"/>
              <a:buChar char="■"/>
              <a:defRPr sz="5422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2531442" y="29386901"/>
            <a:ext cx="1459200" cy="24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4150" tIns="354150" rIns="354150" bIns="354150" anchor="ctr" anchorCtr="0">
            <a:normAutofit/>
          </a:bodyPr>
          <a:lstStyle>
            <a:lvl1pPr lvl="0" algn="r">
              <a:buNone/>
              <a:defRPr sz="3873">
                <a:solidFill>
                  <a:schemeClr val="dk2"/>
                </a:solidFill>
              </a:defRPr>
            </a:lvl1pPr>
            <a:lvl2pPr lvl="1" algn="r">
              <a:buNone/>
              <a:defRPr sz="3873">
                <a:solidFill>
                  <a:schemeClr val="dk2"/>
                </a:solidFill>
              </a:defRPr>
            </a:lvl2pPr>
            <a:lvl3pPr lvl="2" algn="r">
              <a:buNone/>
              <a:defRPr sz="3873">
                <a:solidFill>
                  <a:schemeClr val="dk2"/>
                </a:solidFill>
              </a:defRPr>
            </a:lvl3pPr>
            <a:lvl4pPr lvl="3" algn="r">
              <a:buNone/>
              <a:defRPr sz="3873">
                <a:solidFill>
                  <a:schemeClr val="dk2"/>
                </a:solidFill>
              </a:defRPr>
            </a:lvl4pPr>
            <a:lvl5pPr lvl="4" algn="r">
              <a:buNone/>
              <a:defRPr sz="3873">
                <a:solidFill>
                  <a:schemeClr val="dk2"/>
                </a:solidFill>
              </a:defRPr>
            </a:lvl5pPr>
            <a:lvl6pPr lvl="5" algn="r">
              <a:buNone/>
              <a:defRPr sz="3873">
                <a:solidFill>
                  <a:schemeClr val="dk2"/>
                </a:solidFill>
              </a:defRPr>
            </a:lvl6pPr>
            <a:lvl7pPr lvl="6" algn="r">
              <a:buNone/>
              <a:defRPr sz="3873">
                <a:solidFill>
                  <a:schemeClr val="dk2"/>
                </a:solidFill>
              </a:defRPr>
            </a:lvl7pPr>
            <a:lvl8pPr lvl="7" algn="r">
              <a:buNone/>
              <a:defRPr sz="3873">
                <a:solidFill>
                  <a:schemeClr val="dk2"/>
                </a:solidFill>
              </a:defRPr>
            </a:lvl8pPr>
            <a:lvl9pPr lvl="8" algn="r">
              <a:buNone/>
              <a:defRPr sz="387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0" y="0"/>
            <a:ext cx="24313705" cy="324167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itulo do trabalho"/>
          <p:cNvSpPr txBox="1"/>
          <p:nvPr/>
        </p:nvSpPr>
        <p:spPr>
          <a:xfrm>
            <a:off x="1980000" y="4104000"/>
            <a:ext cx="2034000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pt-BR" sz="6000" b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Proposição de Análise Automatizada Contábil com R</a:t>
            </a:r>
            <a:endParaRPr lang="pt-BR" sz="6000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Aft>
                <a:spcPts val="0"/>
              </a:spcAft>
            </a:pPr>
            <a:endParaRPr sz="6000" b="1" dirty="0">
              <a:solidFill>
                <a:srgbClr val="5B2AA8"/>
              </a:solidFill>
              <a:latin typeface="Calibri"/>
            </a:endParaRPr>
          </a:p>
        </p:txBody>
      </p:sp>
      <p:sp>
        <p:nvSpPr>
          <p:cNvPr id="56" name="Autores"/>
          <p:cNvSpPr txBox="1"/>
          <p:nvPr/>
        </p:nvSpPr>
        <p:spPr>
          <a:xfrm>
            <a:off x="1980000" y="5508000"/>
            <a:ext cx="2034000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000" b="1" dirty="0">
                <a:solidFill>
                  <a:srgbClr val="1F1B2E"/>
                </a:solidFill>
                <a:latin typeface="Calibri"/>
              </a:rPr>
              <a:t>Paulo Fuakala Dina  </a:t>
            </a:r>
            <a:r>
              <a:rPr sz="3800" b="1" dirty="0">
                <a:solidFill>
                  <a:srgbClr val="1F1B2E"/>
                </a:solidFill>
                <a:latin typeface="Calibri"/>
              </a:rPr>
              <a:t>· </a:t>
            </a:r>
            <a:r>
              <a:rPr lang="pt-BR" sz="4000" b="1" dirty="0">
                <a:latin typeface="Calibri" panose="020F0502020204030204" pitchFamily="34" charset="0"/>
                <a:cs typeface="Calibri" panose="020F0502020204030204" pitchFamily="34" charset="0"/>
              </a:rPr>
              <a:t>Orientador:</a:t>
            </a:r>
            <a:r>
              <a:rPr lang="pt-BR" sz="4000" dirty="0">
                <a:latin typeface="Calibri" panose="020F0502020204030204" pitchFamily="34" charset="0"/>
                <a:cs typeface="Calibri" panose="020F0502020204030204" pitchFamily="34" charset="0"/>
              </a:rPr>
              <a:t> Francisco Gildemir Ferreira da Silva</a:t>
            </a:r>
            <a:r>
              <a:rPr lang="pt-BR" dirty="0"/>
              <a:t>.</a:t>
            </a:r>
            <a:endParaRPr sz="3800" b="1" dirty="0">
              <a:solidFill>
                <a:srgbClr val="1F1B2E"/>
              </a:solidFill>
              <a:latin typeface="Calibri"/>
            </a:endParaRPr>
          </a:p>
        </p:txBody>
      </p:sp>
      <p:sp>
        <p:nvSpPr>
          <p:cNvPr id="57" name="Afiliacoes"/>
          <p:cNvSpPr txBox="1"/>
          <p:nvPr/>
        </p:nvSpPr>
        <p:spPr>
          <a:xfrm>
            <a:off x="1980000" y="6192000"/>
            <a:ext cx="203400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 dirty="0">
                <a:solidFill>
                  <a:srgbClr val="555066"/>
                </a:solidFill>
                <a:latin typeface="Calibri"/>
              </a:rPr>
              <a:t> Curso de Finanças, Universidade Federal do Ceará (UFC) — Bolsistas PIBITI</a:t>
            </a:r>
          </a:p>
        </p:txBody>
      </p:sp>
      <p:sp>
        <p:nvSpPr>
          <p:cNvPr id="58" name="Titulo Introdução"/>
          <p:cNvSpPr txBox="1"/>
          <p:nvPr/>
        </p:nvSpPr>
        <p:spPr>
          <a:xfrm>
            <a:off x="1980000" y="10044000"/>
            <a:ext cx="99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5B2AA8"/>
                </a:solidFill>
                <a:latin typeface="Calibri"/>
              </a:rPr>
              <a:t>Introdução</a:t>
            </a:r>
          </a:p>
        </p:txBody>
      </p:sp>
      <p:sp>
        <p:nvSpPr>
          <p:cNvPr id="59" name="Linha Introdução"/>
          <p:cNvSpPr/>
          <p:nvPr/>
        </p:nvSpPr>
        <p:spPr>
          <a:xfrm>
            <a:off x="1980000" y="10764000"/>
            <a:ext cx="990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o introducao"/>
          <p:cNvSpPr txBox="1"/>
          <p:nvPr/>
        </p:nvSpPr>
        <p:spPr>
          <a:xfrm>
            <a:off x="1980000" y="11016000"/>
            <a:ext cx="9900000" cy="345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0">
                <a:solidFill>
                  <a:srgbClr val="1F1B2E"/>
                </a:solidFill>
                <a:latin typeface="Calibri"/>
              </a:rPr>
              <a:t>A análise econômico-financeira de concessionárias de infraestrutura avalia a sustentabilidade financeira e a eficiência da gestão. O grande volume de informações nas demonstrações e a necessidade de interpretar indicadores específicos tornam o processo trabalhoso e pedem apoio computacional.</a:t>
            </a:r>
          </a:p>
        </p:txBody>
      </p:sp>
      <p:sp>
        <p:nvSpPr>
          <p:cNvPr id="61" name="Titulo Objetivo"/>
          <p:cNvSpPr txBox="1"/>
          <p:nvPr/>
        </p:nvSpPr>
        <p:spPr>
          <a:xfrm>
            <a:off x="1980000" y="14687999"/>
            <a:ext cx="99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5B2AA8"/>
                </a:solidFill>
                <a:latin typeface="Calibri"/>
              </a:rPr>
              <a:t>Objetivo</a:t>
            </a:r>
          </a:p>
        </p:txBody>
      </p:sp>
      <p:sp>
        <p:nvSpPr>
          <p:cNvPr id="62" name="Linha Objetivo"/>
          <p:cNvSpPr/>
          <p:nvPr/>
        </p:nvSpPr>
        <p:spPr>
          <a:xfrm>
            <a:off x="1980000" y="15407999"/>
            <a:ext cx="990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o objetivo"/>
          <p:cNvSpPr txBox="1"/>
          <p:nvPr/>
        </p:nvSpPr>
        <p:spPr>
          <a:xfrm>
            <a:off x="1980000" y="15659999"/>
            <a:ext cx="9900000" cy="22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0">
                <a:solidFill>
                  <a:srgbClr val="1F1B2E"/>
                </a:solidFill>
                <a:latin typeface="Calibri"/>
              </a:rPr>
              <a:t>Contribuir para o desenvolvimento de métodos computacionais de análise fundamentalista de concessionárias, usando R e Python para automatizar o processamento de informações financeiras.</a:t>
            </a:r>
          </a:p>
        </p:txBody>
      </p:sp>
      <p:sp>
        <p:nvSpPr>
          <p:cNvPr id="64" name="Titulo Metodologia"/>
          <p:cNvSpPr txBox="1"/>
          <p:nvPr/>
        </p:nvSpPr>
        <p:spPr>
          <a:xfrm>
            <a:off x="1980000" y="18179999"/>
            <a:ext cx="99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5B2AA8"/>
                </a:solidFill>
                <a:latin typeface="Calibri"/>
              </a:rPr>
              <a:t>Metodologia</a:t>
            </a:r>
          </a:p>
        </p:txBody>
      </p:sp>
      <p:sp>
        <p:nvSpPr>
          <p:cNvPr id="65" name="Linha Metodologia"/>
          <p:cNvSpPr/>
          <p:nvPr/>
        </p:nvSpPr>
        <p:spPr>
          <a:xfrm>
            <a:off x="1980000" y="18900000"/>
            <a:ext cx="990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tapa 1 fundo"/>
          <p:cNvSpPr/>
          <p:nvPr/>
        </p:nvSpPr>
        <p:spPr>
          <a:xfrm>
            <a:off x="1980000" y="19152000"/>
            <a:ext cx="9900000" cy="1692000"/>
          </a:xfrm>
          <a:prstGeom prst="roundRect">
            <a:avLst>
              <a:gd name="adj" fmla="val 8000"/>
            </a:avLst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Etapa 1 numero"/>
          <p:cNvSpPr/>
          <p:nvPr/>
        </p:nvSpPr>
        <p:spPr>
          <a:xfrm>
            <a:off x="2196000" y="19404000"/>
            <a:ext cx="684000" cy="684000"/>
          </a:xfrm>
          <a:prstGeom prst="ellipse">
            <a:avLst/>
          </a:prstGeom>
          <a:solidFill>
            <a:srgbClr val="5B2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8" name="Etapa 1 texto"/>
          <p:cNvSpPr txBox="1"/>
          <p:nvPr/>
        </p:nvSpPr>
        <p:spPr>
          <a:xfrm>
            <a:off x="3096000" y="19368000"/>
            <a:ext cx="8568000" cy="13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1B2E"/>
                </a:solidFill>
                <a:latin typeface="Calibri"/>
              </a:rPr>
              <a:t>Revisão da literatura: </a:t>
            </a:r>
            <a:r>
              <a:rPr sz="2800" b="0">
                <a:solidFill>
                  <a:srgbClr val="1F1B2E"/>
                </a:solidFill>
                <a:latin typeface="Calibri"/>
              </a:rPr>
              <a:t>análise fundamentalista, demonstrações contábeis, concessões e IA em finanças (LLMs, FinGPT).</a:t>
            </a:r>
          </a:p>
        </p:txBody>
      </p:sp>
      <p:sp>
        <p:nvSpPr>
          <p:cNvPr id="69" name="Etapa 2 fundo"/>
          <p:cNvSpPr/>
          <p:nvPr/>
        </p:nvSpPr>
        <p:spPr>
          <a:xfrm>
            <a:off x="1980000" y="21060000"/>
            <a:ext cx="9900000" cy="1692000"/>
          </a:xfrm>
          <a:prstGeom prst="roundRect">
            <a:avLst>
              <a:gd name="adj" fmla="val 8000"/>
            </a:avLst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Etapa 2 numero"/>
          <p:cNvSpPr/>
          <p:nvPr/>
        </p:nvSpPr>
        <p:spPr>
          <a:xfrm>
            <a:off x="2196000" y="21312000"/>
            <a:ext cx="684000" cy="684000"/>
          </a:xfrm>
          <a:prstGeom prst="ellipse">
            <a:avLst/>
          </a:prstGeom>
          <a:solidFill>
            <a:srgbClr val="5B2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1" name="Etapa 2 texto"/>
          <p:cNvSpPr txBox="1"/>
          <p:nvPr/>
        </p:nvSpPr>
        <p:spPr>
          <a:xfrm>
            <a:off x="3096000" y="21276000"/>
            <a:ext cx="8568000" cy="13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1B2E"/>
                </a:solidFill>
                <a:latin typeface="Calibri"/>
              </a:rPr>
              <a:t>Coleta: </a:t>
            </a:r>
            <a:r>
              <a:rPr sz="2800" b="0">
                <a:solidFill>
                  <a:srgbClr val="1F1B2E"/>
                </a:solidFill>
                <a:latin typeface="Calibri"/>
              </a:rPr>
              <a:t>demonstrações da Concessionária dos Aeroportos da Amazônia, do Aeroporto Rio de Janeiro e da PRS Aeroportos.</a:t>
            </a:r>
          </a:p>
        </p:txBody>
      </p:sp>
      <p:sp>
        <p:nvSpPr>
          <p:cNvPr id="72" name="Etapa 3 fundo"/>
          <p:cNvSpPr/>
          <p:nvPr/>
        </p:nvSpPr>
        <p:spPr>
          <a:xfrm>
            <a:off x="1980000" y="22967999"/>
            <a:ext cx="9900000" cy="1692000"/>
          </a:xfrm>
          <a:prstGeom prst="roundRect">
            <a:avLst>
              <a:gd name="adj" fmla="val 8000"/>
            </a:avLst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Etapa 3 numero"/>
          <p:cNvSpPr/>
          <p:nvPr/>
        </p:nvSpPr>
        <p:spPr>
          <a:xfrm>
            <a:off x="2196000" y="23220000"/>
            <a:ext cx="684000" cy="684000"/>
          </a:xfrm>
          <a:prstGeom prst="ellipse">
            <a:avLst/>
          </a:prstGeom>
          <a:solidFill>
            <a:srgbClr val="5B2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4" name="Etapa 3 texto"/>
          <p:cNvSpPr txBox="1"/>
          <p:nvPr/>
        </p:nvSpPr>
        <p:spPr>
          <a:xfrm>
            <a:off x="3096000" y="23184000"/>
            <a:ext cx="8568000" cy="133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1B2E"/>
                </a:solidFill>
                <a:latin typeface="Calibri"/>
              </a:rPr>
              <a:t>Padronização em R: </a:t>
            </a:r>
            <a:r>
              <a:rPr sz="2800" b="0">
                <a:solidFill>
                  <a:srgbClr val="1F1B2E"/>
                </a:solidFill>
                <a:latin typeface="Calibri"/>
              </a:rPr>
              <a:t>nomes dos indicadores, variação 2024–2025 (absoluta e %), divisões por zero e grafia.</a:t>
            </a:r>
          </a:p>
        </p:txBody>
      </p:sp>
      <p:sp>
        <p:nvSpPr>
          <p:cNvPr id="75" name="Etapa 4 fundo"/>
          <p:cNvSpPr/>
          <p:nvPr/>
        </p:nvSpPr>
        <p:spPr>
          <a:xfrm>
            <a:off x="1980000" y="24875999"/>
            <a:ext cx="9900000" cy="1224000"/>
          </a:xfrm>
          <a:prstGeom prst="roundRect">
            <a:avLst>
              <a:gd name="adj" fmla="val 8000"/>
            </a:avLst>
          </a:prstGeom>
          <a:solidFill>
            <a:srgbClr val="F1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Etapa 4 numero"/>
          <p:cNvSpPr/>
          <p:nvPr/>
        </p:nvSpPr>
        <p:spPr>
          <a:xfrm>
            <a:off x="2196000" y="25127999"/>
            <a:ext cx="684000" cy="684000"/>
          </a:xfrm>
          <a:prstGeom prst="ellipse">
            <a:avLst/>
          </a:prstGeom>
          <a:solidFill>
            <a:srgbClr val="5B2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7" name="Etapa 4 texto"/>
          <p:cNvSpPr txBox="1"/>
          <p:nvPr/>
        </p:nvSpPr>
        <p:spPr>
          <a:xfrm>
            <a:off x="3096000" y="25091999"/>
            <a:ext cx="8568000" cy="86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1B2E"/>
                </a:solidFill>
                <a:latin typeface="Calibri"/>
              </a:rPr>
              <a:t>Indicadores: </a:t>
            </a:r>
            <a:r>
              <a:rPr sz="2800" b="0">
                <a:solidFill>
                  <a:srgbClr val="1F1B2E"/>
                </a:solidFill>
                <a:latin typeface="Calibri"/>
              </a:rPr>
              <a:t>liquidez, estrutura de capital, endividamento e rentabilidade.</a:t>
            </a:r>
          </a:p>
        </p:txBody>
      </p:sp>
      <p:sp>
        <p:nvSpPr>
          <p:cNvPr id="78" name="Titulo Resultados"/>
          <p:cNvSpPr txBox="1"/>
          <p:nvPr/>
        </p:nvSpPr>
        <p:spPr>
          <a:xfrm>
            <a:off x="12420000" y="10044000"/>
            <a:ext cx="99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5B2AA8"/>
                </a:solidFill>
                <a:latin typeface="Calibri"/>
              </a:rPr>
              <a:t>Resultados</a:t>
            </a:r>
          </a:p>
        </p:txBody>
      </p:sp>
      <p:sp>
        <p:nvSpPr>
          <p:cNvPr id="79" name="Linha Resultados"/>
          <p:cNvSpPr/>
          <p:nvPr/>
        </p:nvSpPr>
        <p:spPr>
          <a:xfrm>
            <a:off x="12420000" y="10764000"/>
            <a:ext cx="990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o resultados"/>
          <p:cNvSpPr txBox="1"/>
          <p:nvPr/>
        </p:nvSpPr>
        <p:spPr>
          <a:xfrm>
            <a:off x="12420000" y="11016000"/>
            <a:ext cx="9900000" cy="49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Entre 2024 e 2025, a receita total cresceu 35,5% e o lucro operacional quase quadruplicou (+298%); o exercício passou de prejuízo a lucro.</a:t>
            </a:r>
          </a:p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A liquidez corrente subiu de 1,18 para 4,33, mas o endividamento geral segue acima de 100% (104,9% em 2025).</a:t>
            </a:r>
          </a:p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O intangível responde por cerca de 96% do ativo total, peso elevado e característico das concessionárias.</a:t>
            </a:r>
          </a:p>
        </p:txBody>
      </p:sp>
      <p:pic>
        <p:nvPicPr>
          <p:cNvPr id="81" name="Grafico liquidez" descr="grafico_liquide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000" y="15516000"/>
            <a:ext cx="9900000" cy="3096000"/>
          </a:xfrm>
          <a:prstGeom prst="rect">
            <a:avLst/>
          </a:prstGeom>
        </p:spPr>
      </p:pic>
      <p:graphicFrame>
        <p:nvGraphicFramePr>
          <p:cNvPr id="82" name="Tabela resultados"/>
          <p:cNvGraphicFramePr>
            <a:graphicFrameLocks noGrp="1"/>
          </p:cNvGraphicFramePr>
          <p:nvPr/>
        </p:nvGraphicFramePr>
        <p:xfrm>
          <a:off x="12420000" y="18827999"/>
          <a:ext cx="9900000" cy="203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199">
                <a:tc>
                  <a:txBody>
                    <a:bodyPr/>
                    <a:lstStyle/>
                    <a:p>
                      <a:pPr algn="l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Conta</a:t>
                      </a:r>
                    </a:p>
                  </a:txBody>
                  <a:tcPr marL="108000" marR="108000" marT="36000" marB="36000" anchor="ctr">
                    <a:solidFill>
                      <a:srgbClr val="5B2A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108000" marR="108000" marT="36000" marB="36000" anchor="ctr">
                    <a:solidFill>
                      <a:srgbClr val="5B2A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marL="108000" marR="108000" marT="36000" marB="36000" anchor="ctr">
                    <a:solidFill>
                      <a:srgbClr val="5B2AA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Variação</a:t>
                      </a:r>
                    </a:p>
                  </a:txBody>
                  <a:tcPr marL="108000" marR="108000" marT="36000" marB="36000" anchor="ctr">
                    <a:solidFill>
                      <a:srgbClr val="5B2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199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Receita total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1.064.168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1.442.248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+35,5%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99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Lucro bruto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390.762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dirty="0">
                          <a:solidFill>
                            <a:srgbClr val="1F1B2E"/>
                          </a:solidFill>
                          <a:latin typeface="Calibri"/>
                        </a:rPr>
                        <a:t>622.975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+59,4%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99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Lucro operacional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301.210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1.200.091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+298,4%</a:t>
                      </a:r>
                    </a:p>
                  </a:txBody>
                  <a:tcPr marL="108000" marR="108000"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99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Resultado do exercício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−651.528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>
                          <a:solidFill>
                            <a:srgbClr val="1F1B2E"/>
                          </a:solidFill>
                          <a:latin typeface="Calibri"/>
                        </a:rPr>
                        <a:t>360.475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200" b="0" dirty="0">
                          <a:solidFill>
                            <a:srgbClr val="1F1B2E"/>
                          </a:solidFill>
                          <a:latin typeface="Calibri"/>
                        </a:rPr>
                        <a:t>prejuízo → lucro</a:t>
                      </a:r>
                    </a:p>
                  </a:txBody>
                  <a:tcPr marL="108000" marR="108000" marT="36000" marB="36000" anchor="ctr">
                    <a:solidFill>
                      <a:srgbClr val="F1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3" name="Legenda tabela"/>
          <p:cNvSpPr txBox="1"/>
          <p:nvPr/>
        </p:nvSpPr>
        <p:spPr>
          <a:xfrm>
            <a:off x="12420000" y="20934000"/>
            <a:ext cx="9900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555066"/>
                </a:solidFill>
                <a:latin typeface="Calibri"/>
              </a:rPr>
              <a:t>Concessionária Aeroporto Rio de Janeiro. Valores em R$ mil, conforme as demonstrações financeiras.</a:t>
            </a:r>
          </a:p>
        </p:txBody>
      </p:sp>
      <p:sp>
        <p:nvSpPr>
          <p:cNvPr id="84" name="Titulo Conclusões"/>
          <p:cNvSpPr txBox="1"/>
          <p:nvPr/>
        </p:nvSpPr>
        <p:spPr>
          <a:xfrm>
            <a:off x="12420000" y="21707999"/>
            <a:ext cx="990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5B2AA8"/>
                </a:solidFill>
                <a:latin typeface="Calibri"/>
              </a:rPr>
              <a:t>Conclusões</a:t>
            </a:r>
          </a:p>
        </p:txBody>
      </p:sp>
      <p:sp>
        <p:nvSpPr>
          <p:cNvPr id="85" name="Linha Conclusões"/>
          <p:cNvSpPr/>
          <p:nvPr/>
        </p:nvSpPr>
        <p:spPr>
          <a:xfrm>
            <a:off x="12420000" y="22427999"/>
            <a:ext cx="990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o conclusoes"/>
          <p:cNvSpPr txBox="1"/>
          <p:nvPr/>
        </p:nvSpPr>
        <p:spPr>
          <a:xfrm>
            <a:off x="12420000" y="22680000"/>
            <a:ext cx="9900000" cy="46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Unir análise fundamentalista, R e Python e revisão da literatura é uma estratégia promissora para avaliar concessionárias.</a:t>
            </a:r>
          </a:p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O código em R já padroniza as planilhas e calcula as variações entre anos.</a:t>
            </a:r>
          </a:p>
          <a:p>
            <a:pPr marL="396000" indent="-396000" algn="l">
              <a:spcAft>
                <a:spcPts val="1000"/>
              </a:spcAft>
              <a:buChar char="•"/>
            </a:pPr>
            <a:r>
              <a:rPr sz="3200" b="0">
                <a:solidFill>
                  <a:srgbClr val="1F1B2E"/>
                </a:solidFill>
                <a:latin typeface="Calibri"/>
              </a:rPr>
              <a:t>Próximo passo: automatizar o cálculo dos indicadores e apoiar a decisão, tendo o pacote adcontabil como base.</a:t>
            </a:r>
          </a:p>
        </p:txBody>
      </p:sp>
      <p:sp>
        <p:nvSpPr>
          <p:cNvPr id="87" name="Referencias e apoio"/>
          <p:cNvSpPr txBox="1"/>
          <p:nvPr/>
        </p:nvSpPr>
        <p:spPr>
          <a:xfrm>
            <a:off x="1980000" y="26532000"/>
            <a:ext cx="18540000" cy="12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pt-BR" sz="1600" b="1">
                <a:solidFill>
                  <a:srgbClr val="555066"/>
                </a:solidFill>
                <a:latin typeface="Calibri"/>
              </a:rPr>
              <a:t>Referências: </a:t>
            </a:r>
            <a:r>
              <a:rPr lang="pt-BR" sz="1600" b="0">
                <a:solidFill>
                  <a:srgbClr val="555066"/>
                </a:solidFill>
                <a:latin typeface="Calibri"/>
              </a:rPr>
              <a:t>AMEL-ZADEH, A.; CALLIESS, J.-P.; KAISER, D.; ROBERTS, S. Machine learning-based financial statement analysis. SSRN, 2020. Disponível em: https://ssrn.com/abstract=3520684. · PERLIN, M. S. Processamento e análise de dados financeiros e econômicos com o R. 2. ed. 2018. · SOUSA, L. adcontabil: pacote em R para análise de demonstrações contábeis. GitHub. Disponível em: https://github.com/LissandroSousa/adcontabil.R. · YANG, H.; LIU, X.-Y.; WANG, C. D. FinGPT: open-source financial large language models. SSRN, 2023. Disponível em: https://ssrn.com/abstract=4489826.</a:t>
            </a:r>
          </a:p>
          <a:p>
            <a:pPr algn="l">
              <a:spcAft>
                <a:spcPts val="200"/>
              </a:spcAft>
            </a:pPr>
            <a:r>
              <a:rPr lang="pt-BR" sz="1600" b="1">
                <a:solidFill>
                  <a:srgbClr val="555066"/>
                </a:solidFill>
                <a:latin typeface="Calibri"/>
              </a:rPr>
              <a:t>Fontes dos dados: </a:t>
            </a:r>
            <a:r>
              <a:rPr lang="pt-BR" sz="1600" b="0">
                <a:solidFill>
                  <a:srgbClr val="555066"/>
                </a:solidFill>
                <a:latin typeface="Calibri"/>
              </a:rPr>
              <a:t>CONCESSIONÁRIA DOS AEROPORTOS DA AMAZÔNIA S.A. Demonstrações contábeis em 31 de dezembro de 2024 (relatório do auditor independente). Disponível em: https://www.tefe-airport.com.br/sites/default/files/2025-05/DF%20CAAM%202024_VF.pdf. · CONCESSIONÁRIA AEROPORTO RIO DE JANEIRO S.A. Demonstrações financeiras em 31 de dezembro de 2025. Rio de Janeiro, 2026. Documento não publicado, obtido junto à ANAC por pedido de acesso à informação (Lei nº 12.527/2011), protocolo 50001.137413/2026-54, respondido em 1 jul. 2026. · PRS AEROPORTOS S.A. Demonstrações contábeis em 31 de dezembro de 2025 (relatório do auditor independente). Disponível em: https://paxaeroportos.com.br/wp-content/uploads/2026/02/0950-26-DC-PRS-Aeroportos-S.A.pdf.</a:t>
            </a:r>
          </a:p>
          <a:p>
            <a:pPr algn="l">
              <a:spcAft>
                <a:spcPts val="200"/>
              </a:spcAft>
            </a:pPr>
            <a:r>
              <a:rPr lang="pt-BR" sz="1600" b="1">
                <a:solidFill>
                  <a:srgbClr val="555066"/>
                </a:solidFill>
                <a:latin typeface="Calibri"/>
              </a:rPr>
              <a:t>Apoio: </a:t>
            </a:r>
            <a:r>
              <a:rPr lang="pt-BR" sz="1600" b="0">
                <a:solidFill>
                  <a:srgbClr val="555066"/>
                </a:solidFill>
                <a:latin typeface="Calibri"/>
              </a:rPr>
              <a:t>PIBITI/CNPq · UFC</a:t>
            </a:r>
          </a:p>
        </p:txBody>
      </p:sp>
      <p:pic>
        <p:nvPicPr>
          <p:cNvPr id="88" name="QR code" descr="QR code para o repositório do projeto no GitHu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6000" y="26855999"/>
            <a:ext cx="1584000" cy="1584000"/>
          </a:xfrm>
          <a:prstGeom prst="rect">
            <a:avLst/>
          </a:prstGeom>
        </p:spPr>
      </p:pic>
      <p:sp>
        <p:nvSpPr>
          <p:cNvPr id="201" name="Titulo Resumo"/>
          <p:cNvSpPr txBox="1"/>
          <p:nvPr/>
        </p:nvSpPr>
        <p:spPr>
          <a:xfrm>
            <a:off x="1980000" y="7200000"/>
            <a:ext cx="20340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4400" b="1">
                <a:solidFill>
                  <a:srgbClr val="5B2AA8"/>
                </a:solidFill>
                <a:latin typeface="Calibri"/>
              </a:rPr>
              <a:t>Resumo</a:t>
            </a:r>
          </a:p>
        </p:txBody>
      </p:sp>
      <p:sp>
        <p:nvSpPr>
          <p:cNvPr id="202" name="Linha Resumo"/>
          <p:cNvSpPr/>
          <p:nvPr/>
        </p:nvSpPr>
        <p:spPr>
          <a:xfrm>
            <a:off x="1980000" y="7920000"/>
            <a:ext cx="20340000" cy="54000"/>
          </a:xfrm>
          <a:prstGeom prst="rect">
            <a:avLst/>
          </a:prstGeom>
          <a:solidFill>
            <a:srgbClr val="FE10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o resumo"/>
          <p:cNvSpPr txBox="1"/>
          <p:nvPr/>
        </p:nvSpPr>
        <p:spPr>
          <a:xfrm>
            <a:off x="1980000" y="8136000"/>
            <a:ext cx="20340000" cy="1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2800" b="0" dirty="0">
                <a:solidFill>
                  <a:srgbClr val="1F1B2E"/>
                </a:solidFill>
                <a:latin typeface="Calibri"/>
              </a:rPr>
              <a:t>Este trabalho propõe um fluxo automatizado em R para a análise econômico-financeira de concessionárias de infraestrutura, aplicado às demonstrações de concessionárias aeroportuárias. O código padroniza as planilhas e calcula as variações entre anos. Entre 2024 e 2025, a receita total cresceu 35,5% e a liquidez corrente subiu de 1,18 para 4,33. O próximo passo é automatizar o cálculo dos indicadores, com base no pacote </a:t>
            </a:r>
            <a:r>
              <a:rPr lang="pt-BR" sz="2800" b="0" dirty="0" err="1">
                <a:solidFill>
                  <a:srgbClr val="1F1B2E"/>
                </a:solidFill>
                <a:latin typeface="Calibri"/>
              </a:rPr>
              <a:t>adcontabil</a:t>
            </a:r>
            <a:r>
              <a:rPr lang="pt-BR" sz="2800" b="0" dirty="0">
                <a:solidFill>
                  <a:srgbClr val="1F1B2E"/>
                </a:solidFill>
                <a:latin typeface="Calibri"/>
              </a:rPr>
              <a:t>, para apoiar a tomada de decisão.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741</Words>
  <Application>Microsoft Office PowerPoint</Application>
  <PresentationFormat>Personalizar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Paulo Fuakala Dina</cp:lastModifiedBy>
  <cp:revision>6</cp:revision>
  <dcterms:modified xsi:type="dcterms:W3CDTF">2026-10-28T00:34:04Z</dcterms:modified>
</cp:coreProperties>
</file>